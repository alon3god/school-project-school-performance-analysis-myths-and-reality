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9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1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1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3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4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5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8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6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9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0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Фон шестиугольника с синим неоново-светом">
            <a:extLst>
              <a:ext uri="{FF2B5EF4-FFF2-40B4-BE49-F238E27FC236}">
                <a16:creationId xmlns:a16="http://schemas.microsoft.com/office/drawing/2014/main" id="{425FC239-2556-4A44-C78A-E5A0FA8F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79EE37-C3B0-49F1-9785-D0E81CA82B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57EE24-04F7-41C6-B67E-7DA9477503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E17265-DA36-47C9-AC4D-01822E7602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35D068-10AF-4241-ADFE-F40CFC9A75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9D8CB9-3E32-4523-AA97-532E923B65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7CF05D3-197B-478D-91B9-1377234BF6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C49475-B923-4DC6-9257-BD65C25942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DB29F5D-09EE-40A0-A705-540E29297B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CA51D99-F305-4D17-9E03-5D35596257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8330E8-C3AF-44DC-80E5-215237BB79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6C3EC5-2106-4BC2-B570-E24E7C800C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5CAA0D-896F-46F4-BA95-0C7904A013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459D97-1E10-461B-B7BE-4A5FC85F79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6CC35D8-8268-42B8-82BB-2120BD612E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8253610-7D46-4B46-984A-207710895F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6A6CB29-B660-4E14-9809-43D35C04DD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79E6EA-9BE0-4C29-AD42-41CACB6A2C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6499EE-044E-470D-8595-61636D9C73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E042D5-4423-4A0F-8597-2B336F92A9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7BB4DB-48A1-4E03-A408-ED2D71B4E0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C7BAFB-49FE-4016-A05F-804D2BCF89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9C7A31-7505-41B9-970C-1334EACE5B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57DAEDB-03F1-4BE3-AEB7-B53E401F50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63867AB-2ACE-4D27-8864-3D0E2CBB68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E40CBB-020D-4627-AB50-C48748408A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12AFB78-0A9B-471D-900E-0D5145E9FC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BFD124-CC90-48A3-88D9-14CCA64558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20B98D2-82E8-4F95-B588-CC9ABD9B2E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A3D3940-B50F-4C62-8D89-37DEE47021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23ED1A6-1F52-4F8C-A206-D0EAEA90C0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2BCF9-8528-EF75-AF11-D794EB87C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410" y="728905"/>
            <a:ext cx="4567990" cy="3184274"/>
          </a:xfrm>
        </p:spPr>
        <p:txBody>
          <a:bodyPr>
            <a:normAutofit/>
          </a:bodyPr>
          <a:lstStyle/>
          <a:p>
            <a:pPr algn="l"/>
            <a:r>
              <a:rPr lang="ru-RU" sz="5000" dirty="0"/>
              <a:t>Анализ успеваемости студентов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2F019E-611B-4A93-7DE7-BFC332481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410" y="4072044"/>
            <a:ext cx="4567990" cy="1495379"/>
          </a:xfrm>
        </p:spPr>
        <p:txBody>
          <a:bodyPr>
            <a:normAutofit/>
          </a:bodyPr>
          <a:lstStyle/>
          <a:p>
            <a:pPr algn="l"/>
            <a:r>
              <a:rPr lang="ru-RU" sz="2200"/>
              <a:t>Захарычев Аркадий</a:t>
            </a:r>
          </a:p>
          <a:p>
            <a:pPr algn="l"/>
            <a:r>
              <a:rPr lang="ru-RU" sz="2200"/>
              <a:t>Скребков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122067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B3A20-2077-1410-D641-02E61A26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F0797A-111A-F29F-2991-16C1C88E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🎯 ЦЕЛЬ ПРОЕКТА:</a:t>
            </a:r>
          </a:p>
          <a:p>
            <a:r>
              <a:rPr lang="ru-RU" dirty="0"/>
              <a:t>Выявить взаимосвязь между успеваемостью учащихся</a:t>
            </a:r>
          </a:p>
          <a:p>
            <a:r>
              <a:rPr lang="ru-RU" dirty="0"/>
              <a:t>и различными факторами с помощью анализа данных</a:t>
            </a:r>
          </a:p>
          <a:p>
            <a:r>
              <a:rPr lang="ru-RU" dirty="0"/>
              <a:t>📋 ЗАДАЧИ:</a:t>
            </a:r>
          </a:p>
          <a:p>
            <a:r>
              <a:rPr lang="ru-RU" dirty="0"/>
              <a:t>1. Собрать данные об успеваемости одноклассников</a:t>
            </a:r>
          </a:p>
          <a:p>
            <a:r>
              <a:rPr lang="ru-RU" dirty="0"/>
              <a:t>2. Проверить распространённые мифы об учёбе</a:t>
            </a:r>
          </a:p>
          <a:p>
            <a:r>
              <a:rPr lang="ru-RU" dirty="0"/>
              <a:t>3. Проанализировать данные с помощью Python</a:t>
            </a:r>
          </a:p>
          <a:p>
            <a:r>
              <a:rPr lang="ru-RU" dirty="0"/>
              <a:t>4. Сделать научно обоснованные выводы</a:t>
            </a:r>
          </a:p>
          <a:p>
            <a:r>
              <a:rPr lang="ru-RU" dirty="0"/>
              <a:t>5. Дать практические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48870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0A2BD-C545-91F9-787C-44A077F7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Проверяемые гипотезы (мифы)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873B7D-2929-6D83-F078-C2BB520E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🔍 МИФ №1: «В понедельник контрольные пишут хуже всего»</a:t>
            </a:r>
          </a:p>
          <a:p>
            <a:pPr marL="0" indent="0">
              <a:buNone/>
            </a:pPr>
            <a:r>
              <a:rPr lang="ru-RU" dirty="0"/>
              <a:t>  • Проверка: Анализ средних баллов по дням недели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🕒 МИФ №2: «Последние уроки - непродуктивные»</a:t>
            </a:r>
          </a:p>
          <a:p>
            <a:pPr marL="0" indent="0">
              <a:buNone/>
            </a:pPr>
            <a:r>
              <a:rPr lang="ru-RU" dirty="0"/>
              <a:t>   • Проверка: Динамика успеваемости в течение дня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📊 МИФ №3: «Пропуски не влияют на оценки»</a:t>
            </a:r>
          </a:p>
          <a:p>
            <a:pPr marL="0" indent="0">
              <a:buNone/>
            </a:pPr>
            <a:r>
              <a:rPr lang="ru-RU" dirty="0"/>
              <a:t>   • Проверка: Корреляция посещаемости и успеваемости</a:t>
            </a:r>
          </a:p>
        </p:txBody>
      </p:sp>
    </p:spTree>
    <p:extLst>
      <p:ext uri="{BB962C8B-B14F-4D97-AF65-F5344CB8AC3E}">
        <p14:creationId xmlns:p14="http://schemas.microsoft.com/office/powerpoint/2010/main" val="167334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2763E-2BF7-46DE-293B-109AC333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C8D5ED-FFE0-F912-D3DB-320BC0E5D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4968"/>
            <a:ext cx="3897517" cy="4351338"/>
          </a:xfrm>
        </p:spPr>
        <p:txBody>
          <a:bodyPr/>
          <a:lstStyle/>
          <a:p>
            <a:r>
              <a:rPr lang="ru-RU" dirty="0"/>
              <a:t>📋 ЭТАПЫ ИССЛЕДОВАНИЯ: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4DADC-4561-2C44-A49A-B469AC1FF1E3}"/>
              </a:ext>
            </a:extLst>
          </p:cNvPr>
          <p:cNvSpPr txBox="1"/>
          <p:nvPr/>
        </p:nvSpPr>
        <p:spPr>
          <a:xfrm>
            <a:off x="457200" y="2901695"/>
            <a:ext cx="5464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   1. СБОР ДАННЫХ:</a:t>
            </a:r>
          </a:p>
          <a:p>
            <a:r>
              <a:rPr lang="ru-RU" dirty="0">
                <a:solidFill>
                  <a:schemeClr val="bg1"/>
                </a:solidFill>
              </a:rPr>
              <a:t>   • Анонимная анкета среди одноклассников</a:t>
            </a:r>
          </a:p>
          <a:p>
            <a:r>
              <a:rPr lang="ru-RU" dirty="0">
                <a:solidFill>
                  <a:schemeClr val="bg1"/>
                </a:solidFill>
              </a:rPr>
              <a:t>   • Период сбора: 2 недели</a:t>
            </a:r>
          </a:p>
          <a:p>
            <a:r>
              <a:rPr lang="ru-RU" dirty="0">
                <a:solidFill>
                  <a:schemeClr val="bg1"/>
                </a:solidFill>
              </a:rPr>
              <a:t>   • Всего собрано: </a:t>
            </a:r>
            <a:r>
              <a:rPr lang="ru-RU" dirty="0" smtClean="0">
                <a:solidFill>
                  <a:schemeClr val="bg1"/>
                </a:solidFill>
              </a:rPr>
              <a:t>150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записей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25BAB-F22A-0450-7B3E-A8922AEEC36D}"/>
              </a:ext>
            </a:extLst>
          </p:cNvPr>
          <p:cNvSpPr txBox="1"/>
          <p:nvPr/>
        </p:nvSpPr>
        <p:spPr>
          <a:xfrm>
            <a:off x="5722237" y="2901695"/>
            <a:ext cx="611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   2. ОБРАБОТКА ДАННЫХ:</a:t>
            </a:r>
          </a:p>
          <a:p>
            <a:r>
              <a:rPr lang="ru-RU" dirty="0">
                <a:solidFill>
                  <a:schemeClr val="bg1"/>
                </a:solidFill>
              </a:rPr>
              <a:t>   • Использование Python и библиотек</a:t>
            </a:r>
          </a:p>
          <a:p>
            <a:r>
              <a:rPr lang="ru-RU" dirty="0">
                <a:solidFill>
                  <a:schemeClr val="bg1"/>
                </a:solidFill>
              </a:rPr>
              <a:t>   • Очистка и преобразование данных</a:t>
            </a:r>
          </a:p>
          <a:p>
            <a:r>
              <a:rPr lang="ru-RU" dirty="0">
                <a:solidFill>
                  <a:schemeClr val="bg1"/>
                </a:solidFill>
              </a:rPr>
              <a:t>   • Статистический анализ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F7228-27CB-72EE-F2A7-9AE6309BF9E5}"/>
              </a:ext>
            </a:extLst>
          </p:cNvPr>
          <p:cNvSpPr txBox="1"/>
          <p:nvPr/>
        </p:nvSpPr>
        <p:spPr>
          <a:xfrm>
            <a:off x="457200" y="4389701"/>
            <a:ext cx="6115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   3. ВИЗУАЛИЗАЦИЯ:</a:t>
            </a:r>
          </a:p>
          <a:p>
            <a:r>
              <a:rPr lang="ru-RU" dirty="0">
                <a:solidFill>
                  <a:schemeClr val="bg1"/>
                </a:solidFill>
              </a:rPr>
              <a:t>   • Графики и диаграммы</a:t>
            </a:r>
          </a:p>
          <a:p>
            <a:r>
              <a:rPr lang="ru-RU" dirty="0">
                <a:solidFill>
                  <a:schemeClr val="bg1"/>
                </a:solidFill>
              </a:rPr>
              <a:t>   • Интерактивные визуализации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56004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26110-D71C-56FD-071E-8C7C5DCC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Техническая реализация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1C2B74D-82B4-C0A1-5C0A-D7FB379DD5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496838"/>
              </p:ext>
            </p:extLst>
          </p:nvPr>
        </p:nvGraphicFramePr>
        <p:xfrm>
          <a:off x="538681" y="2169657"/>
          <a:ext cx="10723562" cy="2091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61781">
                  <a:extLst>
                    <a:ext uri="{9D8B030D-6E8A-4147-A177-3AD203B41FA5}">
                      <a16:colId xmlns:a16="http://schemas.microsoft.com/office/drawing/2014/main" val="3498761680"/>
                    </a:ext>
                  </a:extLst>
                </a:gridCol>
                <a:gridCol w="5361781">
                  <a:extLst>
                    <a:ext uri="{9D8B030D-6E8A-4147-A177-3AD203B41FA5}">
                      <a16:colId xmlns:a16="http://schemas.microsoft.com/office/drawing/2014/main" val="322451260"/>
                    </a:ext>
                  </a:extLst>
                </a:gridCol>
              </a:tblGrid>
              <a:tr h="510169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Библиотека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62353"/>
                  </a:ext>
                </a:extLst>
              </a:tr>
              <a:tr h="15814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Pandas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Matplotlib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Seaborn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Numpy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Анализ данных</a:t>
                      </a:r>
                    </a:p>
                    <a:p>
                      <a:r>
                        <a:rPr lang="ru-RU" dirty="0"/>
                        <a:t>Построение графиков</a:t>
                      </a:r>
                    </a:p>
                    <a:p>
                      <a:r>
                        <a:rPr lang="ru-RU" dirty="0"/>
                        <a:t>Визуализация </a:t>
                      </a:r>
                    </a:p>
                    <a:p>
                      <a:r>
                        <a:rPr lang="ru-RU" dirty="0"/>
                        <a:t>Математические вычисления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762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09FDBB-17A6-5CEB-4DD4-E9E7052A6AAA}"/>
              </a:ext>
            </a:extLst>
          </p:cNvPr>
          <p:cNvSpPr txBox="1"/>
          <p:nvPr/>
        </p:nvSpPr>
        <p:spPr>
          <a:xfrm>
            <a:off x="457200" y="1321356"/>
            <a:ext cx="718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💻 ИСПОЛЬЗУЕМЫЕ ТЕХНОЛОГИИ: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7D5AC-7189-0393-787B-A4CBCF48E333}"/>
              </a:ext>
            </a:extLst>
          </p:cNvPr>
          <p:cNvSpPr txBox="1"/>
          <p:nvPr/>
        </p:nvSpPr>
        <p:spPr>
          <a:xfrm>
            <a:off x="457200" y="1706485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Python-библиотеки: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1D770-CAB6-95F8-E212-BBE228C5F181}"/>
              </a:ext>
            </a:extLst>
          </p:cNvPr>
          <p:cNvSpPr txBox="1"/>
          <p:nvPr/>
        </p:nvSpPr>
        <p:spPr>
          <a:xfrm>
            <a:off x="538681" y="4520981"/>
            <a:ext cx="6115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📊 Формат данных: CSV</a:t>
            </a:r>
          </a:p>
          <a:p>
            <a:r>
              <a:rPr lang="ru-RU" dirty="0">
                <a:solidFill>
                  <a:schemeClr val="bg1"/>
                </a:solidFill>
              </a:rPr>
              <a:t>📈 Объём данных: 150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21324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1E70E-BBC6-4EB1-D330-385BF925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📅 РЕЗУЛЬТАТЫ ПО ДНЯМ НЕДЕЛИ: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3525A1BE-3F1A-711A-408B-42BD0AF03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694378"/>
              </p:ext>
            </p:extLst>
          </p:nvPr>
        </p:nvGraphicFramePr>
        <p:xfrm>
          <a:off x="522837" y="2486528"/>
          <a:ext cx="10723562" cy="23360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55125">
                  <a:extLst>
                    <a:ext uri="{9D8B030D-6E8A-4147-A177-3AD203B41FA5}">
                      <a16:colId xmlns:a16="http://schemas.microsoft.com/office/drawing/2014/main" val="3566450699"/>
                    </a:ext>
                  </a:extLst>
                </a:gridCol>
                <a:gridCol w="5368437">
                  <a:extLst>
                    <a:ext uri="{9D8B030D-6E8A-4147-A177-3AD203B41FA5}">
                      <a16:colId xmlns:a16="http://schemas.microsoft.com/office/drawing/2014/main" val="1186063118"/>
                    </a:ext>
                  </a:extLst>
                </a:gridCol>
              </a:tblGrid>
              <a:tr h="39247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День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Средний балл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83029"/>
                  </a:ext>
                </a:extLst>
              </a:tr>
              <a:tr h="1943556">
                <a:tc>
                  <a:txBody>
                    <a:bodyPr/>
                    <a:lstStyle/>
                    <a:p>
                      <a:r>
                        <a:rPr lang="ru-RU" dirty="0"/>
                        <a:t>Понедельник</a:t>
                      </a:r>
                    </a:p>
                    <a:p>
                      <a:r>
                        <a:rPr lang="ru-RU" dirty="0"/>
                        <a:t>Вторник</a:t>
                      </a:r>
                    </a:p>
                    <a:p>
                      <a:r>
                        <a:rPr lang="ru-RU" dirty="0"/>
                        <a:t>Среда</a:t>
                      </a:r>
                    </a:p>
                    <a:p>
                      <a:r>
                        <a:rPr lang="ru-RU" dirty="0"/>
                        <a:t>Четверг</a:t>
                      </a:r>
                    </a:p>
                    <a:p>
                      <a:r>
                        <a:rPr lang="ru-RU" dirty="0"/>
                        <a:t>Пятница</a:t>
                      </a:r>
                    </a:p>
                    <a:p>
                      <a:r>
                        <a:rPr lang="ru-RU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4.13</a:t>
                      </a:r>
                    </a:p>
                    <a:p>
                      <a:r>
                        <a:rPr lang="ru-RU" dirty="0"/>
                        <a:t>4.48</a:t>
                      </a:r>
                    </a:p>
                    <a:p>
                      <a:r>
                        <a:rPr lang="ru-RU" dirty="0"/>
                        <a:t>3.95</a:t>
                      </a:r>
                    </a:p>
                    <a:p>
                      <a:r>
                        <a:rPr lang="ru-RU" dirty="0"/>
                        <a:t>4.00</a:t>
                      </a:r>
                    </a:p>
                    <a:p>
                      <a:r>
                        <a:rPr lang="ru-RU" dirty="0"/>
                        <a:t>3.82</a:t>
                      </a:r>
                    </a:p>
                    <a:p>
                      <a:r>
                        <a:rPr lang="ru-RU" dirty="0"/>
                        <a:t>3.85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4174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921C94-D5EC-9951-71FE-85E73B5863D5}"/>
              </a:ext>
            </a:extLst>
          </p:cNvPr>
          <p:cNvSpPr txBox="1"/>
          <p:nvPr/>
        </p:nvSpPr>
        <p:spPr>
          <a:xfrm>
            <a:off x="522837" y="1388825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Средний балл: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954A1-D626-CC40-27F7-5E5AA6804DB3}"/>
              </a:ext>
            </a:extLst>
          </p:cNvPr>
          <p:cNvSpPr txBox="1"/>
          <p:nvPr/>
        </p:nvSpPr>
        <p:spPr>
          <a:xfrm>
            <a:off x="522837" y="4822558"/>
            <a:ext cx="6115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🎯 ВЫВОД: Миф опровергнут!</a:t>
            </a:r>
          </a:p>
          <a:p>
            <a:r>
              <a:rPr lang="ru-RU" dirty="0">
                <a:solidFill>
                  <a:schemeClr val="bg1"/>
                </a:solidFill>
              </a:rPr>
              <a:t>Понедельник не худший день, а ВТОРНИК - лучший!</a:t>
            </a:r>
          </a:p>
        </p:txBody>
      </p:sp>
    </p:spTree>
    <p:extLst>
      <p:ext uri="{BB962C8B-B14F-4D97-AF65-F5344CB8AC3E}">
        <p14:creationId xmlns:p14="http://schemas.microsoft.com/office/powerpoint/2010/main" val="307872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4DEB4-05EC-7EE6-964C-BC156FEC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 descr="Изображение выглядит как текст, снимок экрана, Прямоугольник, диаграмма">
            <a:extLst>
              <a:ext uri="{FF2B5EF4-FFF2-40B4-BE49-F238E27FC236}">
                <a16:creationId xmlns:a16="http://schemas.microsoft.com/office/drawing/2014/main" id="{F52CEF30-7744-9668-6439-BF882576A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4385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ABABF-38ED-D542-8A52-42C67B43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🕒 РЕЗУЛЬТАТЫ ПО УРОКАМ: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7F1CD846-576C-D101-F429-36F9C56A84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229305"/>
              </p:ext>
            </p:extLst>
          </p:nvPr>
        </p:nvGraphicFramePr>
        <p:xfrm>
          <a:off x="602056" y="1758157"/>
          <a:ext cx="10723562" cy="239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61781">
                  <a:extLst>
                    <a:ext uri="{9D8B030D-6E8A-4147-A177-3AD203B41FA5}">
                      <a16:colId xmlns:a16="http://schemas.microsoft.com/office/drawing/2014/main" val="1831935974"/>
                    </a:ext>
                  </a:extLst>
                </a:gridCol>
                <a:gridCol w="5361781">
                  <a:extLst>
                    <a:ext uri="{9D8B030D-6E8A-4147-A177-3AD203B41FA5}">
                      <a16:colId xmlns:a16="http://schemas.microsoft.com/office/drawing/2014/main" val="4123666177"/>
                    </a:ext>
                  </a:extLst>
                </a:gridCol>
              </a:tblGrid>
              <a:tr h="38342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Номер урока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Средний балл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558576"/>
                  </a:ext>
                </a:extLst>
              </a:tr>
              <a:tr h="1452857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  <a:p>
                      <a:r>
                        <a:rPr lang="ru-RU" dirty="0"/>
                        <a:t>2</a:t>
                      </a:r>
                    </a:p>
                    <a:p>
                      <a:r>
                        <a:rPr lang="ru-RU" dirty="0"/>
                        <a:t>3</a:t>
                      </a:r>
                    </a:p>
                    <a:p>
                      <a:r>
                        <a:rPr lang="ru-RU" dirty="0"/>
                        <a:t>4</a:t>
                      </a:r>
                    </a:p>
                    <a:p>
                      <a:r>
                        <a:rPr lang="ru-RU" dirty="0"/>
                        <a:t>5</a:t>
                      </a:r>
                    </a:p>
                    <a:p>
                      <a:r>
                        <a:rPr lang="ru-RU" dirty="0"/>
                        <a:t>6</a:t>
                      </a:r>
                    </a:p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4.10 </a:t>
                      </a:r>
                    </a:p>
                    <a:p>
                      <a:r>
                        <a:rPr lang="ru-RU" dirty="0"/>
                        <a:t>4.35 </a:t>
                      </a:r>
                    </a:p>
                    <a:p>
                      <a:r>
                        <a:rPr lang="ru-RU" dirty="0"/>
                        <a:t>4.25</a:t>
                      </a:r>
                    </a:p>
                    <a:p>
                      <a:r>
                        <a:rPr lang="ru-RU" dirty="0"/>
                        <a:t>4.05</a:t>
                      </a:r>
                    </a:p>
                    <a:p>
                      <a:r>
                        <a:rPr lang="ru-RU" dirty="0"/>
                        <a:t>3.90</a:t>
                      </a:r>
                    </a:p>
                    <a:p>
                      <a:r>
                        <a:rPr lang="ru-RU" dirty="0"/>
                        <a:t>3.75</a:t>
                      </a:r>
                    </a:p>
                    <a:p>
                      <a:r>
                        <a:rPr lang="ru-RU" dirty="0"/>
                        <a:t>3.65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940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3BA195-AC41-FF73-87A3-CB64121B9DFA}"/>
              </a:ext>
            </a:extLst>
          </p:cNvPr>
          <p:cNvSpPr txBox="1"/>
          <p:nvPr/>
        </p:nvSpPr>
        <p:spPr>
          <a:xfrm>
            <a:off x="602056" y="1388825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Динамика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успеваемости: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A8C03-828A-DBF9-C0BB-CB2F7E107CA4}"/>
              </a:ext>
            </a:extLst>
          </p:cNvPr>
          <p:cNvSpPr txBox="1"/>
          <p:nvPr/>
        </p:nvSpPr>
        <p:spPr>
          <a:xfrm>
            <a:off x="602056" y="4371056"/>
            <a:ext cx="6115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🎯 ВЫВОД: Миф подтверждён частично!</a:t>
            </a:r>
          </a:p>
          <a:p>
            <a:r>
              <a:rPr lang="ru-RU" dirty="0">
                <a:solidFill>
                  <a:schemeClr val="bg1"/>
                </a:solidFill>
              </a:rPr>
              <a:t>2-3 уроки - самые продуктивные</a:t>
            </a:r>
          </a:p>
        </p:txBody>
      </p:sp>
    </p:spTree>
    <p:extLst>
      <p:ext uri="{BB962C8B-B14F-4D97-AF65-F5344CB8AC3E}">
        <p14:creationId xmlns:p14="http://schemas.microsoft.com/office/powerpoint/2010/main" val="267806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A66CD-89CF-7283-108F-42F585A1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- Время суток</a:t>
            </a:r>
          </a:p>
        </p:txBody>
      </p:sp>
      <p:pic>
        <p:nvPicPr>
          <p:cNvPr id="5" name="Объект 4" descr="Изображение выглядит как диаграмма, линия, График, текст">
            <a:extLst>
              <a:ext uri="{FF2B5EF4-FFF2-40B4-BE49-F238E27FC236}">
                <a16:creationId xmlns:a16="http://schemas.microsoft.com/office/drawing/2014/main" id="{AF53A04B-5FE5-F5B9-BC1E-B7B2FE257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710" y="1391414"/>
            <a:ext cx="8225072" cy="518901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FE34B-E6F6-5FCA-789B-7DDFD55F3F4E}"/>
              </a:ext>
            </a:extLst>
          </p:cNvPr>
          <p:cNvSpPr txBox="1"/>
          <p:nvPr/>
        </p:nvSpPr>
        <p:spPr>
          <a:xfrm>
            <a:off x="457200" y="1391414"/>
            <a:ext cx="3261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📈 КЛЮЧЕВЫЕ НАБЛЮДЕНИЯ:</a:t>
            </a:r>
          </a:p>
          <a:p>
            <a:r>
              <a:rPr lang="ru-RU" dirty="0">
                <a:solidFill>
                  <a:schemeClr val="bg1"/>
                </a:solidFill>
              </a:rPr>
              <a:t>• Чёткая отрицательная динамика к концу дня</a:t>
            </a:r>
          </a:p>
          <a:p>
            <a:r>
              <a:rPr lang="ru-RU" dirty="0">
                <a:solidFill>
                  <a:schemeClr val="bg1"/>
                </a:solidFill>
              </a:rPr>
              <a:t>• Максимум на 2-м уроке</a:t>
            </a:r>
          </a:p>
          <a:p>
            <a:r>
              <a:rPr lang="ru-RU" dirty="0">
                <a:solidFill>
                  <a:schemeClr val="bg1"/>
                </a:solidFill>
              </a:rPr>
              <a:t>• Разница лучшего/худшего: 0.7 балла</a:t>
            </a:r>
          </a:p>
        </p:txBody>
      </p:sp>
    </p:spTree>
    <p:extLst>
      <p:ext uri="{BB962C8B-B14F-4D97-AF65-F5344CB8AC3E}">
        <p14:creationId xmlns:p14="http://schemas.microsoft.com/office/powerpoint/2010/main" val="1593447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2ADCD-8C0A-9C05-8BAC-70F400FA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95" y="378971"/>
            <a:ext cx="10722932" cy="1325563"/>
          </a:xfrm>
        </p:spPr>
        <p:txBody>
          <a:bodyPr/>
          <a:lstStyle/>
          <a:p>
            <a:r>
              <a:rPr lang="ru-RU" dirty="0"/>
              <a:t>📊 РЕЗУЛЬТАТЫ ПО ПОСЕЩАЕМОСТИ: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22D7BFE-52B0-2F65-736B-5336DCEDE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850444"/>
              </p:ext>
            </p:extLst>
          </p:nvPr>
        </p:nvGraphicFramePr>
        <p:xfrm>
          <a:off x="515865" y="1816570"/>
          <a:ext cx="10723562" cy="13611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61781">
                  <a:extLst>
                    <a:ext uri="{9D8B030D-6E8A-4147-A177-3AD203B41FA5}">
                      <a16:colId xmlns:a16="http://schemas.microsoft.com/office/drawing/2014/main" val="991889474"/>
                    </a:ext>
                  </a:extLst>
                </a:gridCol>
                <a:gridCol w="5361781">
                  <a:extLst>
                    <a:ext uri="{9D8B030D-6E8A-4147-A177-3AD203B41FA5}">
                      <a16:colId xmlns:a16="http://schemas.microsoft.com/office/drawing/2014/main" val="4189165273"/>
                    </a:ext>
                  </a:extLst>
                </a:gridCol>
              </a:tblGrid>
              <a:tr h="44679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Посещаемость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Средний балл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29429"/>
                  </a:ext>
                </a:extLst>
              </a:tr>
              <a:tr h="801687">
                <a:tc>
                  <a:txBody>
                    <a:bodyPr/>
                    <a:lstStyle/>
                    <a:p>
                      <a:r>
                        <a:rPr lang="ru-RU" dirty="0"/>
                        <a:t>Не пропускал</a:t>
                      </a:r>
                    </a:p>
                    <a:p>
                      <a:r>
                        <a:rPr lang="ru-RU" dirty="0"/>
                        <a:t>Пропустил 1-2 урока</a:t>
                      </a:r>
                    </a:p>
                    <a:p>
                      <a:r>
                        <a:rPr lang="ru-RU" dirty="0"/>
                        <a:t>Пропустил 3+ уроков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4.30</a:t>
                      </a:r>
                    </a:p>
                    <a:p>
                      <a:r>
                        <a:rPr lang="ru-RU" dirty="0"/>
                        <a:t>4.05</a:t>
                      </a:r>
                    </a:p>
                    <a:p>
                      <a:r>
                        <a:rPr lang="ru-RU" dirty="0"/>
                        <a:t>3.65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5585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918471-08B4-DCAF-3CDB-0D89B264C2EB}"/>
              </a:ext>
            </a:extLst>
          </p:cNvPr>
          <p:cNvSpPr txBox="1"/>
          <p:nvPr/>
        </p:nvSpPr>
        <p:spPr>
          <a:xfrm>
            <a:off x="515865" y="3429000"/>
            <a:ext cx="108415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🎯 ВЫВОД: Миф полностью опровергнут!</a:t>
            </a:r>
          </a:p>
          <a:p>
            <a:r>
              <a:rPr lang="ru-RU" dirty="0">
                <a:solidFill>
                  <a:schemeClr val="bg1"/>
                </a:solidFill>
              </a:rPr>
              <a:t>Посещаемость СИЛЬНО влияет на успеваемость</a:t>
            </a:r>
          </a:p>
          <a:p>
            <a:r>
              <a:rPr lang="ru-RU" dirty="0">
                <a:solidFill>
                  <a:schemeClr val="bg1"/>
                </a:solidFill>
              </a:rPr>
              <a:t>Разница: до 0.65 балла!</a:t>
            </a:r>
          </a:p>
        </p:txBody>
      </p:sp>
    </p:spTree>
    <p:extLst>
      <p:ext uri="{BB962C8B-B14F-4D97-AF65-F5344CB8AC3E}">
        <p14:creationId xmlns:p14="http://schemas.microsoft.com/office/powerpoint/2010/main" val="388158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CF535-60E9-29E6-9B3F-AF1A3F93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- Посещаемость</a:t>
            </a:r>
          </a:p>
        </p:txBody>
      </p:sp>
      <p:pic>
        <p:nvPicPr>
          <p:cNvPr id="9" name="Объект 8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A0368D-2CA4-0762-86EC-7F93871E5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t="52833" r="52016" b="-1"/>
          <a:stretch>
            <a:fillRect/>
          </a:stretch>
        </p:blipFill>
        <p:spPr>
          <a:xfrm>
            <a:off x="5113963" y="1506176"/>
            <a:ext cx="6620837" cy="482711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0915F2-D924-D924-1336-526D8AAB86A0}"/>
              </a:ext>
            </a:extLst>
          </p:cNvPr>
          <p:cNvSpPr txBox="1"/>
          <p:nvPr/>
        </p:nvSpPr>
        <p:spPr>
          <a:xfrm>
            <a:off x="457200" y="1506176"/>
            <a:ext cx="5012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🔍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СТАТИСТИЧЕСКАЯ ЗНАЧИМОСТЬ:</a:t>
            </a:r>
          </a:p>
          <a:p>
            <a:r>
              <a:rPr lang="ru-RU" dirty="0">
                <a:solidFill>
                  <a:schemeClr val="bg1"/>
                </a:solidFill>
              </a:rPr>
              <a:t>• Чёткая отрицательная корреляция</a:t>
            </a:r>
          </a:p>
          <a:p>
            <a:r>
              <a:rPr lang="ru-RU" dirty="0">
                <a:solidFill>
                  <a:schemeClr val="bg1"/>
                </a:solidFill>
              </a:rPr>
              <a:t>• Каждый пропуск снижает результат</a:t>
            </a:r>
          </a:p>
          <a:p>
            <a:r>
              <a:rPr lang="ru-RU" dirty="0">
                <a:solidFill>
                  <a:schemeClr val="bg1"/>
                </a:solidFill>
              </a:rPr>
              <a:t>• Рекомендация: не пропускать перед КР</a:t>
            </a:r>
          </a:p>
        </p:txBody>
      </p:sp>
    </p:spTree>
    <p:extLst>
      <p:ext uri="{BB962C8B-B14F-4D97-AF65-F5344CB8AC3E}">
        <p14:creationId xmlns:p14="http://schemas.microsoft.com/office/powerpoint/2010/main" val="426937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F1D09-9B89-4C06-E9B0-25A47AFB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Предметный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2C1AA5-77BC-F402-1417-E1AE3D8F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8157"/>
            <a:ext cx="107229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B12CA-C423-1F8E-8179-B71DB623FBF7}"/>
              </a:ext>
            </a:extLst>
          </p:cNvPr>
          <p:cNvSpPr txBox="1"/>
          <p:nvPr/>
        </p:nvSpPr>
        <p:spPr>
          <a:xfrm>
            <a:off x="457200" y="1388825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📚 ТОП ПРЕДМЕТОВ ПО УСПЕВАЕМОСТИ: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084EC-88CE-F365-CB5D-DFB38B76AF3D}"/>
              </a:ext>
            </a:extLst>
          </p:cNvPr>
          <p:cNvSpPr txBox="1"/>
          <p:nvPr/>
        </p:nvSpPr>
        <p:spPr>
          <a:xfrm>
            <a:off x="5064516" y="1893094"/>
            <a:ext cx="611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Самые сложные:</a:t>
            </a:r>
          </a:p>
          <a:p>
            <a:r>
              <a:rPr lang="ru-RU" dirty="0">
                <a:solidFill>
                  <a:schemeClr val="bg1"/>
                </a:solidFill>
              </a:rPr>
              <a:t>1. Физика - 3.85 балла</a:t>
            </a:r>
          </a:p>
          <a:p>
            <a:r>
              <a:rPr lang="ru-RU" dirty="0">
                <a:solidFill>
                  <a:schemeClr val="bg1"/>
                </a:solidFill>
              </a:rPr>
              <a:t>2. Математика - 3.90 балла</a:t>
            </a:r>
          </a:p>
          <a:p>
            <a:r>
              <a:rPr lang="ru-RU" dirty="0">
                <a:solidFill>
                  <a:schemeClr val="bg1"/>
                </a:solidFill>
              </a:rPr>
              <a:t>3. Химия - 3.95 балла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268B9D-74F7-5679-4C8F-D3B13A52C437}"/>
              </a:ext>
            </a:extLst>
          </p:cNvPr>
          <p:cNvSpPr txBox="1"/>
          <p:nvPr/>
        </p:nvSpPr>
        <p:spPr>
          <a:xfrm>
            <a:off x="457766" y="1893094"/>
            <a:ext cx="6115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Лучшие предметы: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1. История - 4.45 балла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2. Литература - 4.40 балла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3. Биология - 4.25 балла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22A7E-D516-9417-E68C-2E40C17A1EB2}"/>
              </a:ext>
            </a:extLst>
          </p:cNvPr>
          <p:cNvSpPr txBox="1"/>
          <p:nvPr/>
        </p:nvSpPr>
        <p:spPr>
          <a:xfrm>
            <a:off x="457766" y="3441412"/>
            <a:ext cx="611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🎯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ВЫВОД: Гуманитарные предметы</a:t>
            </a:r>
          </a:p>
          <a:p>
            <a:r>
              <a:rPr lang="ru-RU" dirty="0">
                <a:solidFill>
                  <a:schemeClr val="bg1"/>
                </a:solidFill>
              </a:rPr>
              <a:t>имеют более высокие средние баллы</a:t>
            </a:r>
          </a:p>
        </p:txBody>
      </p:sp>
      <p:pic>
        <p:nvPicPr>
          <p:cNvPr id="13" name="Рисунок 12" descr="Изображение выглядит как текст, снимок экрана, диаграмма, Параллельный">
            <a:extLst>
              <a:ext uri="{FF2B5EF4-FFF2-40B4-BE49-F238E27FC236}">
                <a16:creationId xmlns:a16="http://schemas.microsoft.com/office/drawing/2014/main" id="{2D8735E6-84FB-48F1-BA25-F49A12D61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28" t="52400" r="-17"/>
          <a:stretch>
            <a:fillRect/>
          </a:stretch>
        </p:blipFill>
        <p:spPr>
          <a:xfrm>
            <a:off x="5064516" y="3228360"/>
            <a:ext cx="4715115" cy="326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33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380F6-6C4F-5067-0A22-C55B836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на главный вопрос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C6BBEC-A191-7378-DDB9-0658163EA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4" y="3016251"/>
            <a:ext cx="5792792" cy="28165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🏆 ОТВЕТ НА ОСНОВАНИИ АНАЛИЗА: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    ЛУЧШИЙ ДЕНЬ: ВТОРНИК</a:t>
            </a:r>
          </a:p>
          <a:p>
            <a:pPr marL="0" indent="0">
              <a:buNone/>
            </a:pPr>
            <a:r>
              <a:rPr lang="ru-RU" dirty="0"/>
              <a:t>    Средний балл: 4.38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    ЛУЧШЕЕ ВРЕМЯ: 2-Й УРОК</a:t>
            </a:r>
          </a:p>
          <a:p>
            <a:pPr marL="0" indent="0">
              <a:buNone/>
            </a:pPr>
            <a:r>
              <a:rPr lang="ru-RU" dirty="0"/>
              <a:t>    Средний балл: 4.35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9AFF9-9EA0-1076-C092-CA51B476484B}"/>
              </a:ext>
            </a:extLst>
          </p:cNvPr>
          <p:cNvSpPr txBox="1"/>
          <p:nvPr/>
        </p:nvSpPr>
        <p:spPr>
          <a:xfrm>
            <a:off x="557644" y="1690688"/>
            <a:ext cx="611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❓ ГЛАВНЫЙ ВОПРОС ПРОЕКТА:</a:t>
            </a:r>
          </a:p>
          <a:p>
            <a:r>
              <a:rPr lang="ru-RU" dirty="0">
                <a:solidFill>
                  <a:schemeClr val="bg1"/>
                </a:solidFill>
              </a:rPr>
              <a:t>«В какой день недели лучше всего пишут контрольные?»</a:t>
            </a:r>
          </a:p>
        </p:txBody>
      </p:sp>
    </p:spTree>
    <p:extLst>
      <p:ext uri="{BB962C8B-B14F-4D97-AF65-F5344CB8AC3E}">
        <p14:creationId xmlns:p14="http://schemas.microsoft.com/office/powerpoint/2010/main" val="13498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EB3FD-7F4E-7059-ABA1-C19507CC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Практические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00E5D-71CD-9AA3-96B5-DDB5B2421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2099"/>
            <a:ext cx="10104120" cy="517398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💡 РЕКОМЕНДАЦИИ ДЛЯ УЧАЩИХСЯ: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1. ПЛАНИРОВАНИЕ:</a:t>
            </a:r>
          </a:p>
          <a:p>
            <a:pPr marL="0" indent="0">
              <a:buNone/>
            </a:pPr>
            <a:r>
              <a:rPr lang="ru-RU" dirty="0"/>
              <a:t>   • Важные контрольные - на ВТОРНИК</a:t>
            </a:r>
          </a:p>
          <a:p>
            <a:pPr marL="0" indent="0">
              <a:buNone/>
            </a:pPr>
            <a:r>
              <a:rPr lang="ru-RU" dirty="0"/>
              <a:t>   • Сложные предметы - на 2-3 урок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2. ПОСЕЩАЕМОСТЬ:</a:t>
            </a:r>
          </a:p>
          <a:p>
            <a:pPr marL="0" indent="0">
              <a:buNone/>
            </a:pPr>
            <a:r>
              <a:rPr lang="ru-RU" dirty="0"/>
              <a:t>   • Не пропускать занятия перед КР</a:t>
            </a:r>
          </a:p>
          <a:p>
            <a:pPr marL="0" indent="0">
              <a:buNone/>
            </a:pPr>
            <a:r>
              <a:rPr lang="ru-RU" dirty="0"/>
              <a:t>   • Разница в 0.65 балла - это оценка!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3. ПОДГОТОВКА:</a:t>
            </a:r>
          </a:p>
          <a:p>
            <a:pPr marL="0" indent="0">
              <a:buNone/>
            </a:pPr>
            <a:r>
              <a:rPr lang="ru-RU" dirty="0"/>
              <a:t>   • Уделять больше времени точным наукам</a:t>
            </a:r>
          </a:p>
          <a:p>
            <a:pPr marL="0" indent="0">
              <a:buNone/>
            </a:pPr>
            <a:r>
              <a:rPr lang="ru-RU" dirty="0"/>
              <a:t>   • Использовать продуктивные часы</a:t>
            </a:r>
          </a:p>
        </p:txBody>
      </p:sp>
    </p:spTree>
    <p:extLst>
      <p:ext uri="{BB962C8B-B14F-4D97-AF65-F5344CB8AC3E}">
        <p14:creationId xmlns:p14="http://schemas.microsoft.com/office/powerpoint/2010/main" val="285003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BCB2C-23AA-BC57-AEC4-E67A4D76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Практические рекомендации для учителей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14D9A-8C32-A693-916D-19E83A10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👨🏫 РЕКОМЕНДАЦИИ ДЛЯ ПЕДАГОГОВ: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1. РАСПИСАНИЕ:</a:t>
            </a:r>
          </a:p>
          <a:p>
            <a:pPr marL="0" indent="0">
              <a:buNone/>
            </a:pPr>
            <a:r>
              <a:rPr lang="ru-RU" dirty="0"/>
              <a:t>   • Сложные контрольные - на вторник</a:t>
            </a:r>
          </a:p>
          <a:p>
            <a:pPr marL="0" indent="0">
              <a:buNone/>
            </a:pPr>
            <a:r>
              <a:rPr lang="ru-RU" dirty="0"/>
              <a:t>   • Объяснение нового материала - на 2-3 урок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2. ОЦЕНИВАНИЕ:</a:t>
            </a:r>
          </a:p>
          <a:p>
            <a:pPr marL="0" indent="0">
              <a:buNone/>
            </a:pPr>
            <a:r>
              <a:rPr lang="ru-RU" dirty="0"/>
              <a:t>   • Учитывать динамику дня</a:t>
            </a:r>
          </a:p>
          <a:p>
            <a:pPr marL="0" indent="0">
              <a:buNone/>
            </a:pPr>
            <a:r>
              <a:rPr lang="ru-RU" dirty="0"/>
              <a:t>   • Более лояльное оценивание в конце недели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3. МОТИВАЦИЯ:</a:t>
            </a:r>
          </a:p>
          <a:p>
            <a:pPr marL="0" indent="0">
              <a:buNone/>
            </a:pPr>
            <a:r>
              <a:rPr lang="ru-RU" dirty="0"/>
              <a:t>   • Поощрять регулярное посещение</a:t>
            </a:r>
          </a:p>
          <a:p>
            <a:pPr marL="0" indent="0">
              <a:buNone/>
            </a:pPr>
            <a:r>
              <a:rPr lang="ru-RU" dirty="0"/>
              <a:t>   • Объяснять важность первых уроков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376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29A7C-BE42-7549-4F31-17AA62CD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интерактивных графиков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8D1963-7A6A-8BAB-FAE4-55C6603E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✨ ИНТЕРАКТИВНЫЕ ВОЗМОЖНОСТИ ПРОЕКТА: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1. Тепловая карта успеваемости</a:t>
            </a:r>
          </a:p>
          <a:p>
            <a:pPr marL="0" indent="0">
              <a:buNone/>
            </a:pPr>
            <a:r>
              <a:rPr lang="ru-RU" dirty="0"/>
              <a:t>   • Взаимосвязь дня и урока</a:t>
            </a:r>
          </a:p>
          <a:p>
            <a:pPr marL="0" indent="0">
              <a:buNone/>
            </a:pPr>
            <a:r>
              <a:rPr lang="ru-RU" dirty="0"/>
              <a:t>   • </a:t>
            </a:r>
            <a:r>
              <a:rPr lang="ru-RU" dirty="0" err="1"/>
              <a:t>Кликабельные</a:t>
            </a:r>
            <a:r>
              <a:rPr lang="ru-RU" dirty="0"/>
              <a:t> ячейки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2. Динамические графики</a:t>
            </a:r>
          </a:p>
          <a:p>
            <a:pPr marL="0" indent="0">
              <a:buNone/>
            </a:pPr>
            <a:r>
              <a:rPr lang="ru-RU" dirty="0"/>
              <a:t>   • Изменение масштаба</a:t>
            </a:r>
          </a:p>
          <a:p>
            <a:pPr marL="0" indent="0">
              <a:buNone/>
            </a:pPr>
            <a:r>
              <a:rPr lang="ru-RU" dirty="0"/>
              <a:t>   • Просмотр деталей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3. Анимация результатов</a:t>
            </a:r>
          </a:p>
          <a:p>
            <a:pPr marL="0" indent="0">
              <a:buNone/>
            </a:pPr>
            <a:r>
              <a:rPr lang="ru-RU" dirty="0"/>
              <a:t>   • Наглядное представление</a:t>
            </a:r>
          </a:p>
          <a:p>
            <a:pPr marL="0" indent="0">
              <a:buNone/>
            </a:pPr>
            <a:r>
              <a:rPr lang="ru-RU" dirty="0"/>
              <a:t>   • Профессиональный вид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5316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EF34F-A069-41D0-A5A5-FEACCC97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Научная новизна и практическая ценность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10AF6-B684-238F-469D-B5AD8CED2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🎓 НАУЧНАЯ НОВИЗНА:</a:t>
            </a:r>
          </a:p>
          <a:p>
            <a:pPr marL="0" indent="0">
              <a:buNone/>
            </a:pPr>
            <a:r>
              <a:rPr lang="ru-RU" dirty="0"/>
              <a:t>• Первое в школе исследование успеваемости методами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science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• Применение Python для анализа школьных данных</a:t>
            </a:r>
          </a:p>
          <a:p>
            <a:pPr marL="0" indent="0">
              <a:buNone/>
            </a:pPr>
            <a:r>
              <a:rPr lang="ru-RU" dirty="0"/>
              <a:t>• Статистическая проверка "народных" мифов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💼 ПРАКТИЧЕСКАЯ ЦЕННОСТЬ:</a:t>
            </a:r>
          </a:p>
          <a:p>
            <a:pPr marL="0" indent="0">
              <a:buNone/>
            </a:pPr>
            <a:r>
              <a:rPr lang="ru-RU" dirty="0"/>
              <a:t>1. Для учащихся: Конкретные рекомендации по улучшению успеваемости</a:t>
            </a:r>
          </a:p>
          <a:p>
            <a:pPr marL="0" indent="0">
              <a:buNone/>
            </a:pPr>
            <a:r>
              <a:rPr lang="ru-RU" dirty="0"/>
              <a:t>2. Для учителей: Данные для оптимизации учебного процесса</a:t>
            </a:r>
          </a:p>
          <a:p>
            <a:pPr marL="0" indent="0">
              <a:buNone/>
            </a:pPr>
            <a:r>
              <a:rPr lang="ru-RU" dirty="0"/>
              <a:t>3. Для администрации: Инструмент анализа успеваемости</a:t>
            </a:r>
          </a:p>
        </p:txBody>
      </p:sp>
    </p:spTree>
    <p:extLst>
      <p:ext uri="{BB962C8B-B14F-4D97-AF65-F5344CB8AC3E}">
        <p14:creationId xmlns:p14="http://schemas.microsoft.com/office/powerpoint/2010/main" val="3215450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9E259-2288-3DD2-37AD-EE94DAED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Перспективы развития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89125-C1C4-22A7-A7F4-AF476456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0688"/>
            <a:ext cx="107229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🚀 ВОЗМОЖНОСТИ РАСШИРЕНИЯ: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51152" y="2308572"/>
            <a:ext cx="69389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2. УГЛУБЛЁННЫЙ АНАЛИЗ:</a:t>
            </a:r>
          </a:p>
          <a:p>
            <a:r>
              <a:rPr lang="ru-RU" dirty="0">
                <a:solidFill>
                  <a:schemeClr val="bg1"/>
                </a:solidFill>
              </a:rPr>
              <a:t>  • Влияние времени года</a:t>
            </a:r>
          </a:p>
          <a:p>
            <a:r>
              <a:rPr lang="ru-RU" dirty="0">
                <a:solidFill>
                  <a:schemeClr val="bg1"/>
                </a:solidFill>
              </a:rPr>
              <a:t>  • Эффективность разных методик преподавания</a:t>
            </a:r>
          </a:p>
          <a:p>
            <a:r>
              <a:rPr lang="ru-RU" dirty="0">
                <a:solidFill>
                  <a:schemeClr val="bg1"/>
                </a:solidFill>
              </a:rPr>
              <a:t>  • Анализ домашних заданий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7538" y="244707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1. МАСШТАБИРОВАНИЕ:</a:t>
            </a:r>
          </a:p>
          <a:p>
            <a:r>
              <a:rPr lang="ru-RU" dirty="0">
                <a:solidFill>
                  <a:schemeClr val="bg1"/>
                </a:solidFill>
              </a:rPr>
              <a:t>  • Анализ всей параллели/школы</a:t>
            </a:r>
          </a:p>
          <a:p>
            <a:r>
              <a:rPr lang="ru-RU" dirty="0">
                <a:solidFill>
                  <a:schemeClr val="bg1"/>
                </a:solidFill>
              </a:rPr>
              <a:t>  • Сравнение разных классов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57200" y="400325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3. ПРАКТИЧЕСКОЕ ПРИМЕНЕНИЕ:</a:t>
            </a:r>
          </a:p>
          <a:p>
            <a:r>
              <a:rPr lang="ru-RU" dirty="0">
                <a:solidFill>
                  <a:schemeClr val="bg1"/>
                </a:solidFill>
              </a:rPr>
              <a:t>  • Рекомендательная система</a:t>
            </a:r>
          </a:p>
          <a:p>
            <a:r>
              <a:rPr lang="ru-RU" dirty="0">
                <a:solidFill>
                  <a:schemeClr val="bg1"/>
                </a:solidFill>
              </a:rPr>
              <a:t>  • Прогнозирование успеваемости</a:t>
            </a:r>
          </a:p>
          <a:p>
            <a:r>
              <a:rPr lang="ru-RU" dirty="0">
                <a:solidFill>
                  <a:schemeClr val="bg1"/>
                </a:solidFill>
              </a:rPr>
              <a:t>  • Автоматический анализ журналов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588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1FF26-AD6B-D3DC-6D4E-35A6EC9F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68812D-FB8A-8B92-1F81-5580AA4B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1747"/>
            <a:ext cx="107229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ТЕХНИЧЕСКИЕ</a:t>
            </a:r>
            <a:r>
              <a:rPr lang="ru-RU" dirty="0" smtClean="0"/>
              <a:t> </a:t>
            </a:r>
            <a:r>
              <a:rPr lang="ru-RU" dirty="0"/>
              <a:t>ДОСТИЖЕНИЯ: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" y="20300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1. АВТОМАТИЗАЦИЯ:</a:t>
            </a:r>
          </a:p>
          <a:p>
            <a:r>
              <a:rPr lang="ru-RU" dirty="0">
                <a:solidFill>
                  <a:schemeClr val="bg1"/>
                </a:solidFill>
              </a:rPr>
              <a:t>   • </a:t>
            </a:r>
            <a:r>
              <a:rPr lang="ru-RU" dirty="0" err="1">
                <a:solidFill>
                  <a:schemeClr val="bg1"/>
                </a:solidFill>
              </a:rPr>
              <a:t>Автоопределение</a:t>
            </a:r>
            <a:r>
              <a:rPr lang="ru-RU" dirty="0">
                <a:solidFill>
                  <a:schemeClr val="bg1"/>
                </a:solidFill>
              </a:rPr>
              <a:t> формата данных</a:t>
            </a:r>
          </a:p>
          <a:p>
            <a:r>
              <a:rPr lang="ru-RU" dirty="0">
                <a:solidFill>
                  <a:schemeClr val="bg1"/>
                </a:solidFill>
              </a:rPr>
              <a:t>   • Умная обработка любых входных файлов</a:t>
            </a:r>
          </a:p>
          <a:p>
            <a:r>
              <a:rPr lang="ru-RU" dirty="0">
                <a:solidFill>
                  <a:schemeClr val="bg1"/>
                </a:solidFill>
              </a:rPr>
              <a:t>   • Автоматический отчёт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7200" y="330139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2. НАДЁЖНОСТЬ:</a:t>
            </a:r>
          </a:p>
          <a:p>
            <a:r>
              <a:rPr lang="ru-RU" dirty="0">
                <a:solidFill>
                  <a:schemeClr val="bg1"/>
                </a:solidFill>
              </a:rPr>
              <a:t>   • Обработка ошибок</a:t>
            </a:r>
          </a:p>
          <a:p>
            <a:r>
              <a:rPr lang="ru-RU" dirty="0">
                <a:solidFill>
                  <a:schemeClr val="bg1"/>
                </a:solidFill>
              </a:rPr>
              <a:t>   • Работа с разными кодировками</a:t>
            </a:r>
          </a:p>
          <a:p>
            <a:r>
              <a:rPr lang="ru-RU" dirty="0">
                <a:solidFill>
                  <a:schemeClr val="bg1"/>
                </a:solidFill>
              </a:rPr>
              <a:t>   • Резервное копирование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897937" y="203004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3. ПОЛЬЗОВАТЕЛЬСКИЙ ИНТЕРФЕЙС:</a:t>
            </a:r>
          </a:p>
          <a:p>
            <a:r>
              <a:rPr lang="ru-RU" dirty="0">
                <a:solidFill>
                  <a:schemeClr val="bg1"/>
                </a:solidFill>
              </a:rPr>
              <a:t>   • Простота использования</a:t>
            </a:r>
          </a:p>
          <a:p>
            <a:r>
              <a:rPr lang="ru-RU" dirty="0">
                <a:solidFill>
                  <a:schemeClr val="bg1"/>
                </a:solidFill>
              </a:rPr>
              <a:t>   • Наглядные результаты</a:t>
            </a:r>
          </a:p>
          <a:p>
            <a:r>
              <a:rPr lang="ru-RU" dirty="0">
                <a:solidFill>
                  <a:schemeClr val="bg1"/>
                </a:solidFill>
              </a:rPr>
              <a:t>   • Готовые материалы для презентации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533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4272CC-3276-3D86-3291-41C720D0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E1045B-6EC0-7DB6-1639-EA7320CC3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✅ ПРОВЕРЕННЫЕ ГИПОТЕЗЫ:</a:t>
            </a:r>
          </a:p>
          <a:p>
            <a:pPr marL="0" indent="0">
              <a:buNone/>
            </a:pPr>
            <a:r>
              <a:rPr lang="ru-RU" dirty="0"/>
              <a:t>1. ❌ Миф о понедельнике - ОПРОВЕРГНУТ</a:t>
            </a:r>
          </a:p>
          <a:p>
            <a:pPr marL="0" indent="0">
              <a:buNone/>
            </a:pPr>
            <a:r>
              <a:rPr lang="ru-RU" dirty="0"/>
              <a:t>2. ✅ Миф об уроках - ПОДТВЕРЖДЁН</a:t>
            </a:r>
          </a:p>
          <a:p>
            <a:pPr marL="0" indent="0">
              <a:buNone/>
            </a:pPr>
            <a:r>
              <a:rPr lang="ru-RU" dirty="0"/>
              <a:t>3. ❌ Миф о посещаемости - ОПРОВЕРГНУТ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🏆 ГЛАВНЫЙ РЕЗУЛЬТАТ:</a:t>
            </a:r>
          </a:p>
          <a:p>
            <a:pPr marL="0" indent="0">
              <a:buNone/>
            </a:pPr>
            <a:r>
              <a:rPr lang="ru-RU" dirty="0"/>
              <a:t>Научно доказано, что оптимальное время для </a:t>
            </a:r>
          </a:p>
          <a:p>
            <a:pPr marL="0" indent="0">
              <a:buNone/>
            </a:pPr>
            <a:r>
              <a:rPr lang="ru-RU" dirty="0"/>
              <a:t>контрольных - ВТОРНИК, 2-3 урок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🌟 ЗНАЧИМОСТЬ ПРОЕКТА:</a:t>
            </a:r>
          </a:p>
          <a:p>
            <a:pPr marL="0" indent="0">
              <a:buNone/>
            </a:pPr>
            <a:r>
              <a:rPr lang="ru-RU" dirty="0"/>
              <a:t>• Первый опыт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science</a:t>
            </a:r>
            <a:r>
              <a:rPr lang="ru-RU" dirty="0"/>
              <a:t> в школе</a:t>
            </a:r>
          </a:p>
          <a:p>
            <a:pPr marL="0" indent="0">
              <a:buNone/>
            </a:pPr>
            <a:r>
              <a:rPr lang="ru-RU" dirty="0"/>
              <a:t>• Практические рекомендации для всех</a:t>
            </a:r>
          </a:p>
          <a:p>
            <a:pPr marL="0" indent="0">
              <a:buNone/>
            </a:pPr>
            <a:r>
              <a:rPr lang="ru-RU" dirty="0"/>
              <a:t>• Основа для дальнейших исследований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3536286255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964</Words>
  <Application>Microsoft Office PowerPoint</Application>
  <PresentationFormat>Широкоэкранный</PresentationFormat>
  <Paragraphs>229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Avenir Next LT Pro</vt:lpstr>
      <vt:lpstr>Posterama</vt:lpstr>
      <vt:lpstr>SineVTI</vt:lpstr>
      <vt:lpstr>Анализ успеваемости студентов</vt:lpstr>
      <vt:lpstr>Цель и задачи проекта </vt:lpstr>
      <vt:lpstr>Проверяемые гипотезы (мифы)</vt:lpstr>
      <vt:lpstr>Методология исследования</vt:lpstr>
      <vt:lpstr>Техническая реализация</vt:lpstr>
      <vt:lpstr>📅 РЕЗУЛЬТАТЫ ПО ДНЯМ НЕДЕЛИ:</vt:lpstr>
      <vt:lpstr>Презентация PowerPoint</vt:lpstr>
      <vt:lpstr>🕒 РЕЗУЛЬТАТЫ ПО УРОКАМ:</vt:lpstr>
      <vt:lpstr>График - Время суток</vt:lpstr>
      <vt:lpstr>📊 РЕЗУЛЬТАТЫ ПО ПОСЕЩАЕМОСТИ:</vt:lpstr>
      <vt:lpstr>График - Посещаемость</vt:lpstr>
      <vt:lpstr>Предметный анализ</vt:lpstr>
      <vt:lpstr>Ответ на главный вопрос</vt:lpstr>
      <vt:lpstr>Практические рекомендации</vt:lpstr>
      <vt:lpstr>Практические рекомендации для учителей</vt:lpstr>
      <vt:lpstr>Демонстрация интерактивных графиков</vt:lpstr>
      <vt:lpstr>Научная новизна и практическая ценность</vt:lpstr>
      <vt:lpstr> Перспективы развития проекта</vt:lpstr>
      <vt:lpstr>Технические особенности реализации</vt:lpstr>
      <vt:lpstr>Выводы и 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успеваемости студентов</dc:title>
  <dc:creator>Захарычев Аркадий</dc:creator>
  <cp:lastModifiedBy>Школьник01</cp:lastModifiedBy>
  <cp:revision>2</cp:revision>
  <dcterms:created xsi:type="dcterms:W3CDTF">2025-12-11T19:04:50Z</dcterms:created>
  <dcterms:modified xsi:type="dcterms:W3CDTF">2025-12-12T14:47:42Z</dcterms:modified>
</cp:coreProperties>
</file>